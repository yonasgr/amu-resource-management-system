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ExtraBold"/>
      <p:bold r:id="rId14"/>
      <p:boldItalic r:id="rId15"/>
    </p:embeddedFont>
    <p:embeddedFont>
      <p:font typeface="Roboto"/>
      <p:bold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Roboto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RobotoSemiBold-bold.fntdata"/><Relationship Id="rId12" Type="http://schemas.openxmlformats.org/officeDocument/2006/relationships/slide" Target="slides/slide7.xml"/><Relationship Id="rId34" Type="http://schemas.openxmlformats.org/officeDocument/2006/relationships/font" Target="fonts/RobotoSemiBold-regular.fntdata"/><Relationship Id="rId15" Type="http://schemas.openxmlformats.org/officeDocument/2006/relationships/font" Target="fonts/RobotoExtraBold-boldItalic.fntdata"/><Relationship Id="rId37" Type="http://schemas.openxmlformats.org/officeDocument/2006/relationships/font" Target="fonts/RobotoSemiBold-boldItalic.fntdata"/><Relationship Id="rId14" Type="http://schemas.openxmlformats.org/officeDocument/2006/relationships/font" Target="fonts/RobotoExtraBold-bold.fntdata"/><Relationship Id="rId36" Type="http://schemas.openxmlformats.org/officeDocument/2006/relationships/font" Target="fonts/RobotoSemiBold-italic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bold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3fcaf8a39f68c1e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3fcaf8a39f68c1e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3fcaf8a39f68c1e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43fcaf8a39f68c1e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43fcaf8a39f68c1e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43fcaf8a39f68c1e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3fcaf8a39f68c1e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3fcaf8a39f68c1e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43fcaf8a39f68c1e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43fcaf8a39f68c1e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43fcaf8a39f68c1e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43fcaf8a39f68c1e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43fcaf8a39f68c1e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43fcaf8a39f68c1e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43fcaf8a39f68c1e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43fcaf8a39f68c1e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3fcaf8a39f68c1e_13_0)">
  <p:cSld name="Generated (h43fcaf8a39f68c1e_13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895350" y="390525"/>
            <a:ext cx="285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B4A8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ARBA MINCH UNIVERSITY</a:t>
            </a:r>
            <a:endParaRPr b="0" sz="1100">
              <a:solidFill>
                <a:srgbClr val="0B4A8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38" name="Google Shape;138;p14"/>
          <p:cNvGrpSpPr/>
          <p:nvPr/>
        </p:nvGrpSpPr>
        <p:grpSpPr>
          <a:xfrm>
            <a:off x="6591300" y="361950"/>
            <a:ext cx="2095500" cy="304800"/>
            <a:chOff x="0" y="0"/>
            <a:chExt cx="2095500" cy="304800"/>
          </a:xfrm>
        </p:grpSpPr>
        <p:sp>
          <p:nvSpPr>
            <p:cNvPr id="139" name="Google Shape;139;p14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E40AF"/>
                  </a:solidFill>
                  <a:latin typeface="Roboto"/>
                  <a:ea typeface="Roboto"/>
                  <a:cs typeface="Roboto"/>
                  <a:sym typeface="Roboto"/>
                </a:rPr>
                <a:t>INTERNSHIP PRESENTATION</a:t>
              </a:r>
              <a:endParaRPr b="1" sz="900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1" name="Google Shape;141;p14"/>
          <p:cNvCxnSpPr/>
          <p:nvPr/>
        </p:nvCxnSpPr>
        <p:spPr>
          <a:xfrm>
            <a:off x="457200" y="8191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p14"/>
          <p:cNvGrpSpPr/>
          <p:nvPr/>
        </p:nvGrpSpPr>
        <p:grpSpPr>
          <a:xfrm>
            <a:off x="457200" y="1190625"/>
            <a:ext cx="8229600" cy="1400250"/>
            <a:chOff x="0" y="0"/>
            <a:chExt cx="8229600" cy="1400250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0" y="0"/>
              <a:ext cx="82296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100">
                  <a:solidFill>
                    <a:srgbClr val="0B4A8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Development of the AMU Dedicated Store &amp; Resource Management System</a:t>
              </a:r>
              <a:endParaRPr b="0" sz="3100">
                <a:solidFill>
                  <a:srgbClr val="0B4A8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0" y="1352550"/>
              <a:ext cx="914400" cy="47700"/>
            </a:xfrm>
            <a:prstGeom prst="roundRect">
              <a:avLst>
                <a:gd fmla="val 50000" name="adj"/>
              </a:avLst>
            </a:prstGeom>
            <a:solidFill>
              <a:srgbClr val="F2A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457200" y="2952750"/>
            <a:ext cx="8229600" cy="1285800"/>
            <a:chOff x="0" y="0"/>
            <a:chExt cx="8229600" cy="1285800"/>
          </a:xfrm>
        </p:grpSpPr>
        <p:grpSp>
          <p:nvGrpSpPr>
            <p:cNvPr id="146" name="Google Shape;146;p14"/>
            <p:cNvGrpSpPr/>
            <p:nvPr/>
          </p:nvGrpSpPr>
          <p:grpSpPr>
            <a:xfrm>
              <a:off x="0" y="0"/>
              <a:ext cx="3962400" cy="1285800"/>
              <a:chOff x="0" y="0"/>
              <a:chExt cx="3962400" cy="1285800"/>
            </a:xfrm>
          </p:grpSpPr>
          <p:sp>
            <p:nvSpPr>
              <p:cNvPr id="147" name="Google Shape;147;p14"/>
              <p:cNvSpPr/>
              <p:nvPr/>
            </p:nvSpPr>
            <p:spPr>
              <a:xfrm>
                <a:off x="0" y="0"/>
                <a:ext cx="3962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4"/>
              <p:cNvSpPr/>
              <p:nvPr/>
            </p:nvSpPr>
            <p:spPr>
              <a:xfrm>
                <a:off x="0" y="0"/>
                <a:ext cx="573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4"/>
              <p:cNvSpPr txBox="1"/>
              <p:nvPr/>
            </p:nvSpPr>
            <p:spPr>
              <a:xfrm>
                <a:off x="266700" y="209550"/>
                <a:ext cx="3467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C757D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PREPARED BY</a:t>
                </a:r>
                <a:endParaRPr b="1" sz="95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Yonas Girma</a:t>
                </a:r>
                <a:endParaRPr b="1" sz="180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Roboto"/>
                    <a:ea typeface="Roboto"/>
                    <a:cs typeface="Roboto"/>
                    <a:sym typeface="Roboto"/>
                  </a:rPr>
                  <a:t>Practical Attachment Intern</a:t>
                </a:r>
                <a:endParaRPr b="0" sz="105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0" name="Google Shape;150;p14"/>
            <p:cNvGrpSpPr/>
            <p:nvPr/>
          </p:nvGrpSpPr>
          <p:grpSpPr>
            <a:xfrm>
              <a:off x="4267200" y="0"/>
              <a:ext cx="3962400" cy="1285800"/>
              <a:chOff x="0" y="0"/>
              <a:chExt cx="3962400" cy="1285800"/>
            </a:xfrm>
          </p:grpSpPr>
          <p:sp>
            <p:nvSpPr>
              <p:cNvPr id="151" name="Google Shape;151;p14"/>
              <p:cNvSpPr/>
              <p:nvPr/>
            </p:nvSpPr>
            <p:spPr>
              <a:xfrm>
                <a:off x="0" y="0"/>
                <a:ext cx="3962400" cy="1285800"/>
              </a:xfrm>
              <a:prstGeom prst="roundRect">
                <a:avLst>
                  <a:gd fmla="val 7407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0" y="0"/>
                <a:ext cx="57300" cy="1285800"/>
              </a:xfrm>
              <a:prstGeom prst="roundRect">
                <a:avLst>
                  <a:gd fmla="val 50000" name="adj"/>
                </a:avLst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4"/>
              <p:cNvSpPr txBox="1"/>
              <p:nvPr/>
            </p:nvSpPr>
            <p:spPr>
              <a:xfrm>
                <a:off x="266700" y="209550"/>
                <a:ext cx="3467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C757D"/>
                    </a:solidFill>
                    <a:latin typeface="Roboto"/>
                    <a:ea typeface="Roboto"/>
                    <a:cs typeface="Roboto"/>
                    <a:sym typeface="Roboto"/>
                  </a:rPr>
                  <a:t>HOSTING ORGANIZATION</a:t>
                </a:r>
                <a:endParaRPr b="1" sz="95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1E293B"/>
                    </a:solidFill>
                    <a:latin typeface="Roboto"/>
                    <a:ea typeface="Roboto"/>
                    <a:cs typeface="Roboto"/>
                    <a:sym typeface="Roboto"/>
                  </a:rPr>
                  <a:t>Arba Minch University (AMU)</a:t>
                </a:r>
                <a:endParaRPr b="1" sz="135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B4A8F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ICT Directorate (ICTD)</a:t>
                </a:r>
                <a:endParaRPr b="0" sz="1100">
                  <a:solidFill>
                    <a:srgbClr val="0B4A8F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</p:grpSp>
      <p:pic>
        <p:nvPicPr>
          <p:cNvPr id="154" name="Google Shape;15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750" y="190750"/>
            <a:ext cx="647350" cy="6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675" y="3232000"/>
            <a:ext cx="647350" cy="6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5"/>
          <p:cNvGrpSpPr/>
          <p:nvPr/>
        </p:nvGrpSpPr>
        <p:grpSpPr>
          <a:xfrm>
            <a:off x="457200" y="762000"/>
            <a:ext cx="8229600" cy="19200"/>
            <a:chOff x="457200" y="762000"/>
            <a:chExt cx="8229600" cy="19200"/>
          </a:xfrm>
        </p:grpSpPr>
        <p:sp>
          <p:nvSpPr>
            <p:cNvPr id="163" name="Google Shape;163;p15"/>
            <p:cNvSpPr/>
            <p:nvPr/>
          </p:nvSpPr>
          <p:spPr>
            <a:xfrm>
              <a:off x="457200" y="762000"/>
              <a:ext cx="8229600" cy="192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457200" y="762000"/>
              <a:ext cx="1143000" cy="192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5"/>
          <p:cNvSpPr txBox="1"/>
          <p:nvPr/>
        </p:nvSpPr>
        <p:spPr>
          <a:xfrm>
            <a:off x="457200" y="304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221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Transitioning AMU's Store Operations to a Centralized Platform</a:t>
            </a:r>
            <a:endParaRPr b="1" sz="2210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6" name="Google Shape;166;p15"/>
          <p:cNvGrpSpPr/>
          <p:nvPr/>
        </p:nvGrpSpPr>
        <p:grpSpPr>
          <a:xfrm>
            <a:off x="457200" y="1047750"/>
            <a:ext cx="2667000" cy="3714900"/>
            <a:chOff x="0" y="0"/>
            <a:chExt cx="2667000" cy="3714900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2667000" cy="3714900"/>
            </a:xfrm>
            <a:prstGeom prst="roundRect">
              <a:avLst>
                <a:gd fmla="val 142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0" y="0"/>
              <a:ext cx="57300" cy="37149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228600" y="228600"/>
              <a:ext cx="2209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" sz="357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rPr>
                <a:t>45</a:t>
              </a:r>
              <a:endParaRPr b="1" sz="357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228600" y="8382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rPr>
                <a:t>Working-Day Practical Attachment</a:t>
              </a:r>
              <a:endParaRPr b="1" sz="1100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28600" y="1333500"/>
              <a:ext cx="22098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228600" y="1476375"/>
              <a:ext cx="22098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rPr>
                <a:t>Timeline</a:t>
              </a:r>
              <a:endParaRPr b="1" sz="110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July 2 – September 2, 2026</a:t>
              </a:r>
              <a:endParaRPr b="0" sz="11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rPr>
                <a:t>Host Institution</a:t>
              </a:r>
              <a:endParaRPr b="1" sz="110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Arba Minch University ICT Directorate (ICTD)</a:t>
              </a:r>
              <a:endParaRPr b="0" sz="11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rPr>
                <a:t>Supervision</a:t>
              </a:r>
              <a:endParaRPr b="1" sz="110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Mr. Chirotaw Kentib,</a:t>
              </a:r>
              <a:br>
                <a:rPr b="0" lang="en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100">
                  <a:solidFill>
                    <a:srgbClr val="6C757D"/>
                  </a:solidFill>
                  <a:latin typeface="Inter"/>
                  <a:ea typeface="Inter"/>
                  <a:cs typeface="Inter"/>
                  <a:sym typeface="Inter"/>
                </a:rPr>
                <a:t>Application Development Team Leader</a:t>
              </a:r>
              <a:endParaRPr b="0" sz="11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3" name="Google Shape;173;p15"/>
          <p:cNvGrpSpPr/>
          <p:nvPr/>
        </p:nvGrpSpPr>
        <p:grpSpPr>
          <a:xfrm>
            <a:off x="3352800" y="1047750"/>
            <a:ext cx="5334000" cy="3714750"/>
            <a:chOff x="0" y="0"/>
            <a:chExt cx="5334000" cy="3714750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5334000" cy="1714500"/>
            </a:xfrm>
            <a:prstGeom prst="roundRect">
              <a:avLst>
                <a:gd fmla="val 222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0" y="0"/>
              <a:ext cx="5334000" cy="28500"/>
            </a:xfrm>
            <a:prstGeom prst="rect">
              <a:avLst/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228600" y="152400"/>
              <a:ext cx="4876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rPr>
                <a:t>Prior Legacy State</a:t>
              </a:r>
              <a:endParaRPr b="1" sz="110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Prior to this system, store inventory and departmental requisition operations at AMU relied on decentralized, paper-based bookkeeping.</a:t>
              </a:r>
              <a:endParaRPr b="0" sz="115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This manual approach made tracking stock accurately challenging, slowed down request processing across campuses, and required substantial manual effort when compiling paper records for audits.</a:t>
              </a:r>
              <a:endParaRPr b="0" sz="115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0" y="1885950"/>
              <a:ext cx="5334000" cy="1828800"/>
            </a:xfrm>
            <a:prstGeom prst="roundRect">
              <a:avLst>
                <a:gd fmla="val 208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0" y="1885950"/>
              <a:ext cx="5334000" cy="285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 txBox="1"/>
            <p:nvPr/>
          </p:nvSpPr>
          <p:spPr>
            <a:xfrm>
              <a:off x="228600" y="2038350"/>
              <a:ext cx="4876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rPr>
                <a:t>Primary Challenge Objective</a:t>
              </a:r>
              <a:endParaRPr b="1" sz="1018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64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Design and build a custom web application from the ground up to replace manual workflows by digitizing item cataloging with real-time, dynamically computed stock balances and implementing a structured requisition-to-issuance workflow.</a:t>
              </a:r>
              <a:endParaRPr b="0" sz="1064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64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Replacing physical paper routing with a centralized digital platform enforces institutional accountability and auditability while preserving the operational speed required across departments.</a:t>
              </a:r>
              <a:endParaRPr b="0" sz="1064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6"/>
          <p:cNvGrpSpPr/>
          <p:nvPr/>
        </p:nvGrpSpPr>
        <p:grpSpPr>
          <a:xfrm>
            <a:off x="457200" y="762000"/>
            <a:ext cx="8229600" cy="19200"/>
            <a:chOff x="0" y="0"/>
            <a:chExt cx="8229600" cy="19200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8229600" cy="192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6"/>
          <p:cNvSpPr txBox="1"/>
          <p:nvPr/>
        </p:nvSpPr>
        <p:spPr>
          <a:xfrm>
            <a:off x="457200" y="304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5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System Architecture</a:t>
            </a:r>
            <a:endParaRPr b="1" sz="2405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8" name="Google Shape;188;p16"/>
          <p:cNvGrpSpPr/>
          <p:nvPr/>
        </p:nvGrpSpPr>
        <p:grpSpPr>
          <a:xfrm>
            <a:off x="3000375" y="952500"/>
            <a:ext cx="5686500" cy="3905400"/>
            <a:chOff x="0" y="0"/>
            <a:chExt cx="5686500" cy="3905400"/>
          </a:xfrm>
        </p:grpSpPr>
        <p:grpSp>
          <p:nvGrpSpPr>
            <p:cNvPr id="189" name="Google Shape;189;p16"/>
            <p:cNvGrpSpPr/>
            <p:nvPr/>
          </p:nvGrpSpPr>
          <p:grpSpPr>
            <a:xfrm>
              <a:off x="0" y="0"/>
              <a:ext cx="5686500" cy="647700"/>
              <a:chOff x="0" y="0"/>
              <a:chExt cx="5686500" cy="647700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0" y="0"/>
                <a:ext cx="5686500" cy="647700"/>
              </a:xfrm>
              <a:prstGeom prst="roundRect">
                <a:avLst>
                  <a:gd fmla="val 5882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0" y="0"/>
                <a:ext cx="38100" cy="647700"/>
              </a:xfrm>
              <a:prstGeom prst="roundRect">
                <a:avLst>
                  <a:gd fmla="val 50000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 txBox="1"/>
              <p:nvPr/>
            </p:nvSpPr>
            <p:spPr>
              <a:xfrm>
                <a:off x="152400" y="114300"/>
                <a:ext cx="53817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93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The system leverages a modern, containerized layered client-server architecture using NestJS, React, and PostgreSQL, orchestrated for development and production environments.</a:t>
                </a:r>
                <a:endParaRPr b="0" sz="93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3" name="Google Shape;193;p16"/>
            <p:cNvGrpSpPr/>
            <p:nvPr/>
          </p:nvGrpSpPr>
          <p:grpSpPr>
            <a:xfrm>
              <a:off x="0" y="800100"/>
              <a:ext cx="5686425" cy="3105300"/>
              <a:chOff x="0" y="0"/>
              <a:chExt cx="5686425" cy="3105300"/>
            </a:xfrm>
          </p:grpSpPr>
          <p:grpSp>
            <p:nvGrpSpPr>
              <p:cNvPr id="194" name="Google Shape;194;p16"/>
              <p:cNvGrpSpPr/>
              <p:nvPr/>
            </p:nvGrpSpPr>
            <p:grpSpPr>
              <a:xfrm>
                <a:off x="0" y="0"/>
                <a:ext cx="2743200" cy="1447800"/>
                <a:chOff x="0" y="0"/>
                <a:chExt cx="2743200" cy="1447800"/>
              </a:xfrm>
            </p:grpSpPr>
            <p:sp>
              <p:nvSpPr>
                <p:cNvPr id="195" name="Google Shape;195;p16"/>
                <p:cNvSpPr/>
                <p:nvPr/>
              </p:nvSpPr>
              <p:spPr>
                <a:xfrm>
                  <a:off x="0" y="0"/>
                  <a:ext cx="2743200" cy="14478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DEE2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16"/>
                <p:cNvSpPr txBox="1"/>
                <p:nvPr/>
              </p:nvSpPr>
              <p:spPr>
                <a:xfrm>
                  <a:off x="152400" y="133350"/>
                  <a:ext cx="2438400" cy="118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Backend Framework</a:t>
                  </a:r>
                  <a:endParaRPr b="1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0B4A8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NestJS 10.4.0</a:t>
                  </a:r>
                  <a:r>
                    <a:rPr b="0" lang="en" sz="105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modular framework with dependency injection.</a:t>
                  </a:r>
                  <a:endParaRPr b="0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900"/>
                    </a:spcAft>
                    <a:buNone/>
                  </a:pPr>
                  <a:r>
                    <a:rPr b="0" lang="en" sz="950">
                      <a:solidFill>
                        <a:srgbClr val="6C75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Features distinct modules for authentication, user management, inventory, requests, and reporting.</a:t>
                  </a:r>
                  <a:endParaRPr b="0" sz="950">
                    <a:solidFill>
                      <a:srgbClr val="6C75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97" name="Google Shape;197;p16"/>
              <p:cNvGrpSpPr/>
              <p:nvPr/>
            </p:nvGrpSpPr>
            <p:grpSpPr>
              <a:xfrm>
                <a:off x="2943225" y="0"/>
                <a:ext cx="2743200" cy="1447800"/>
                <a:chOff x="0" y="0"/>
                <a:chExt cx="2743200" cy="1447800"/>
              </a:xfrm>
            </p:grpSpPr>
            <p:sp>
              <p:nvSpPr>
                <p:cNvPr id="198" name="Google Shape;198;p16"/>
                <p:cNvSpPr/>
                <p:nvPr/>
              </p:nvSpPr>
              <p:spPr>
                <a:xfrm>
                  <a:off x="0" y="0"/>
                  <a:ext cx="2743200" cy="14478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DEE2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16"/>
                <p:cNvSpPr txBox="1"/>
                <p:nvPr/>
              </p:nvSpPr>
              <p:spPr>
                <a:xfrm>
                  <a:off x="152400" y="133350"/>
                  <a:ext cx="2438400" cy="118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Database &amp; Persistence</a:t>
                  </a:r>
                  <a:endParaRPr b="1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0B4A8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PostgreSQL 16</a:t>
                  </a:r>
                  <a:r>
                    <a:rPr b="0" lang="en" sz="105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relational database.</a:t>
                  </a:r>
                  <a:endParaRPr b="0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900"/>
                    </a:spcAft>
                    <a:buNone/>
                  </a:pPr>
                  <a:r>
                    <a:rPr b="0" lang="en" sz="950">
                      <a:solidFill>
                        <a:srgbClr val="6C75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Accessed through </a:t>
                  </a:r>
                  <a:r>
                    <a:rPr b="0" lang="en" sz="950">
                      <a:solidFill>
                        <a:srgbClr val="6C757D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Prisma ORM 5.19.0</a:t>
                  </a:r>
                  <a:r>
                    <a:rPr b="0" lang="en" sz="950">
                      <a:solidFill>
                        <a:srgbClr val="6C75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for type-safe database queries and automated schema migrations.</a:t>
                  </a:r>
                  <a:endParaRPr b="0" sz="950">
                    <a:solidFill>
                      <a:srgbClr val="6C75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00" name="Google Shape;200;p16"/>
              <p:cNvGrpSpPr/>
              <p:nvPr/>
            </p:nvGrpSpPr>
            <p:grpSpPr>
              <a:xfrm>
                <a:off x="0" y="1562100"/>
                <a:ext cx="2743200" cy="1543200"/>
                <a:chOff x="0" y="0"/>
                <a:chExt cx="2743200" cy="1543200"/>
              </a:xfrm>
            </p:grpSpPr>
            <p:sp>
              <p:nvSpPr>
                <p:cNvPr id="201" name="Google Shape;201;p16"/>
                <p:cNvSpPr/>
                <p:nvPr/>
              </p:nvSpPr>
              <p:spPr>
                <a:xfrm>
                  <a:off x="0" y="0"/>
                  <a:ext cx="2743200" cy="1543200"/>
                </a:xfrm>
                <a:prstGeom prst="roundRect">
                  <a:avLst>
                    <a:gd fmla="val 2469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DEE2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16"/>
                <p:cNvSpPr txBox="1"/>
                <p:nvPr/>
              </p:nvSpPr>
              <p:spPr>
                <a:xfrm>
                  <a:off x="152400" y="133350"/>
                  <a:ext cx="2438400" cy="127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Frontend Client</a:t>
                  </a:r>
                  <a:endParaRPr b="1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0B4A8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React 18 + Vite</a:t>
                  </a:r>
                  <a:r>
                    <a:rPr b="0" lang="en" sz="105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SPA typed with TypeScript.</a:t>
                  </a:r>
                  <a:endParaRPr b="0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900"/>
                    </a:spcAft>
                    <a:buNone/>
                  </a:pPr>
                  <a:r>
                    <a:rPr b="0" lang="en" sz="950">
                      <a:solidFill>
                        <a:srgbClr val="6C75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Utilizes Tailwind CSS for utility-first styling and TanStack Query for server-state caching and async data fetching.</a:t>
                  </a:r>
                  <a:endParaRPr b="0" sz="950">
                    <a:solidFill>
                      <a:srgbClr val="6C75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03" name="Google Shape;203;p16"/>
              <p:cNvGrpSpPr/>
              <p:nvPr/>
            </p:nvGrpSpPr>
            <p:grpSpPr>
              <a:xfrm>
                <a:off x="2943225" y="1562100"/>
                <a:ext cx="2743200" cy="1543200"/>
                <a:chOff x="0" y="0"/>
                <a:chExt cx="2743200" cy="1543200"/>
              </a:xfrm>
            </p:grpSpPr>
            <p:sp>
              <p:nvSpPr>
                <p:cNvPr id="204" name="Google Shape;204;p16"/>
                <p:cNvSpPr/>
                <p:nvPr/>
              </p:nvSpPr>
              <p:spPr>
                <a:xfrm>
                  <a:off x="0" y="0"/>
                  <a:ext cx="2743200" cy="1543200"/>
                </a:xfrm>
                <a:prstGeom prst="roundRect">
                  <a:avLst>
                    <a:gd fmla="val 2469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DEE2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" name="Google Shape;205;p16"/>
                <p:cNvSpPr txBox="1"/>
                <p:nvPr/>
              </p:nvSpPr>
              <p:spPr>
                <a:xfrm>
                  <a:off x="152400" y="133350"/>
                  <a:ext cx="2438400" cy="127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Infrastructure &amp; Proxy</a:t>
                  </a:r>
                  <a:endParaRPr b="1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0B4A8F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Docker &amp; Compose</a:t>
                  </a:r>
                  <a:r>
                    <a:rPr b="0" lang="en" sz="105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containerization.</a:t>
                  </a:r>
                  <a:endParaRPr b="0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900"/>
                    </a:spcAft>
                    <a:buNone/>
                  </a:pPr>
                  <a:r>
                    <a:rPr b="0" lang="en" sz="950">
                      <a:solidFill>
                        <a:srgbClr val="6C75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Orchestrates the NestJS API, PostgreSQL database, Vite frontend, and Nginx reverse proxy across dev and prod configurations.</a:t>
                  </a:r>
                  <a:endParaRPr b="0" sz="950">
                    <a:solidFill>
                      <a:srgbClr val="6C75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" name="Google Shape;212;p17"/>
            <p:cNvGrpSpPr/>
            <p:nvPr/>
          </p:nvGrpSpPr>
          <p:grpSpPr>
            <a:xfrm>
              <a:off x="457200" y="762000"/>
              <a:ext cx="8229600" cy="19200"/>
              <a:chOff x="0" y="0"/>
              <a:chExt cx="8229600" cy="19200"/>
            </a:xfrm>
          </p:grpSpPr>
          <p:sp>
            <p:nvSpPr>
              <p:cNvPr id="213" name="Google Shape;213;p17"/>
              <p:cNvSpPr/>
              <p:nvPr/>
            </p:nvSpPr>
            <p:spPr>
              <a:xfrm>
                <a:off x="0" y="0"/>
                <a:ext cx="8229600" cy="192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5" name="Google Shape;215;p17"/>
          <p:cNvSpPr txBox="1"/>
          <p:nvPr/>
        </p:nvSpPr>
        <p:spPr>
          <a:xfrm>
            <a:off x="457200" y="285750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Requisition Workflow &amp; Operational Accountability</a:t>
            </a:r>
            <a:endParaRPr b="1" sz="2400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457200" y="1000125"/>
            <a:ext cx="3762300" cy="376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7"/>
          <p:cNvGrpSpPr/>
          <p:nvPr/>
        </p:nvGrpSpPr>
        <p:grpSpPr>
          <a:xfrm>
            <a:off x="4429125" y="1000125"/>
            <a:ext cx="4257600" cy="3762375"/>
            <a:chOff x="0" y="0"/>
            <a:chExt cx="4257600" cy="3762375"/>
          </a:xfrm>
        </p:grpSpPr>
        <p:grpSp>
          <p:nvGrpSpPr>
            <p:cNvPr id="218" name="Google Shape;218;p17"/>
            <p:cNvGrpSpPr/>
            <p:nvPr/>
          </p:nvGrpSpPr>
          <p:grpSpPr>
            <a:xfrm>
              <a:off x="0" y="0"/>
              <a:ext cx="4257600" cy="1095300"/>
              <a:chOff x="0" y="0"/>
              <a:chExt cx="4257600" cy="1095300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0" y="0"/>
                <a:ext cx="4257600" cy="1095300"/>
              </a:xfrm>
              <a:prstGeom prst="roundRect">
                <a:avLst>
                  <a:gd fmla="val 3478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0" y="0"/>
                <a:ext cx="38100" cy="1095300"/>
              </a:xfrm>
              <a:prstGeom prst="roundRect">
                <a:avLst>
                  <a:gd fmla="val 50000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 txBox="1"/>
              <p:nvPr/>
            </p:nvSpPr>
            <p:spPr>
              <a:xfrm>
                <a:off x="152400" y="114300"/>
                <a:ext cx="3952800" cy="8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Requisition Path &amp; Role-Based Approval</a:t>
                </a:r>
                <a:endParaRPr b="1" sz="1100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Academic staff (Requester) submits a request, reviewed by Store Manager. Once approved, Storekeeper issues items.</a:t>
                </a:r>
                <a:endParaRPr b="0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2" name="Google Shape;222;p17"/>
            <p:cNvGrpSpPr/>
            <p:nvPr/>
          </p:nvGrpSpPr>
          <p:grpSpPr>
            <a:xfrm>
              <a:off x="0" y="1209675"/>
              <a:ext cx="4257600" cy="1333500"/>
              <a:chOff x="0" y="0"/>
              <a:chExt cx="4257600" cy="1333500"/>
            </a:xfrm>
          </p:grpSpPr>
          <p:sp>
            <p:nvSpPr>
              <p:cNvPr id="223" name="Google Shape;223;p17"/>
              <p:cNvSpPr/>
              <p:nvPr/>
            </p:nvSpPr>
            <p:spPr>
              <a:xfrm>
                <a:off x="0" y="0"/>
                <a:ext cx="4257600" cy="1333500"/>
              </a:xfrm>
              <a:prstGeom prst="roundRect">
                <a:avLst>
                  <a:gd fmla="val 2857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 txBox="1"/>
              <p:nvPr/>
            </p:nvSpPr>
            <p:spPr>
              <a:xfrm>
                <a:off x="152400" y="114300"/>
                <a:ext cx="3952800" cy="11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70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Atomic Database Transaction</a:t>
                </a:r>
                <a:endParaRPr b="1" sz="77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77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Issuance executes within a single Prisma transaction to maintain absolute data integrity:</a:t>
                </a:r>
                <a:endParaRPr b="0" sz="77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0"/>
                  </a:spcAft>
                  <a:buSzPts val="980"/>
                  <a:buChar char="●"/>
                </a:pPr>
                <a:r>
                  <a:rPr b="0" lang="en" sz="73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Verifies stock availability</a:t>
                </a:r>
                <a:endParaRPr b="0" sz="73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0"/>
                  </a:spcAft>
                  <a:buSzPts val="980"/>
                  <a:buChar char="●"/>
                </a:pPr>
                <a:r>
                  <a:rPr b="0" lang="en" sz="73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Writes STOCK_OUT ledger entries</a:t>
                </a:r>
                <a:endParaRPr b="0" sz="73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600"/>
                  </a:spcAft>
                  <a:buSzPts val="980"/>
                  <a:buChar char="●"/>
                </a:pPr>
                <a:r>
                  <a:rPr b="0" lang="en" sz="73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Decreases StockSummary balance &amp; marks request ISSUED</a:t>
                </a:r>
                <a:endParaRPr b="0" sz="73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6" name="Google Shape;226;p17"/>
            <p:cNvGrpSpPr/>
            <p:nvPr/>
          </p:nvGrpSpPr>
          <p:grpSpPr>
            <a:xfrm>
              <a:off x="0" y="2657475"/>
              <a:ext cx="4257600" cy="1104900"/>
              <a:chOff x="0" y="0"/>
              <a:chExt cx="4257600" cy="1104900"/>
            </a:xfrm>
          </p:grpSpPr>
          <p:sp>
            <p:nvSpPr>
              <p:cNvPr id="227" name="Google Shape;227;p17"/>
              <p:cNvSpPr/>
              <p:nvPr/>
            </p:nvSpPr>
            <p:spPr>
              <a:xfrm>
                <a:off x="0" y="0"/>
                <a:ext cx="4257600" cy="1104900"/>
              </a:xfrm>
              <a:prstGeom prst="roundRect">
                <a:avLst>
                  <a:gd fmla="val 3448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0" y="0"/>
                <a:ext cx="38100" cy="1104900"/>
              </a:xfrm>
              <a:prstGeom prst="roundRect">
                <a:avLst>
                  <a:gd fmla="val 50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 txBox="1"/>
              <p:nvPr/>
            </p:nvSpPr>
            <p:spPr>
              <a:xfrm>
                <a:off x="152400" y="114300"/>
                <a:ext cx="39528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Direct Operations &amp; Typed Ledger</a:t>
                </a:r>
                <a:endParaRPr b="1" sz="1100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Handles supplier stock-in, direct stock-outs, returns, adjustments, and transfers. Every operation writes a typed ledger entry, preventing balance discrepancies.</a:t>
                </a:r>
                <a:endParaRPr b="0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5" name="Google Shape;235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457200" y="762000"/>
              <a:ext cx="8229600" cy="192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457200" y="762000"/>
              <a:ext cx="1143000" cy="192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8"/>
          <p:cNvSpPr txBox="1"/>
          <p:nvPr/>
        </p:nvSpPr>
        <p:spPr>
          <a:xfrm>
            <a:off x="457200" y="3048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Security &amp; Access Control Architecture</a:t>
            </a:r>
            <a:endParaRPr b="1" sz="2600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9" name="Google Shape;239;p18"/>
          <p:cNvGrpSpPr/>
          <p:nvPr/>
        </p:nvGrpSpPr>
        <p:grpSpPr>
          <a:xfrm>
            <a:off x="457200" y="1085850"/>
            <a:ext cx="8229675" cy="3809850"/>
            <a:chOff x="0" y="95250"/>
            <a:chExt cx="8229675" cy="3809850"/>
          </a:xfrm>
        </p:grpSpPr>
        <p:grpSp>
          <p:nvGrpSpPr>
            <p:cNvPr id="240" name="Google Shape;240;p18"/>
            <p:cNvGrpSpPr/>
            <p:nvPr/>
          </p:nvGrpSpPr>
          <p:grpSpPr>
            <a:xfrm>
              <a:off x="0" y="95250"/>
              <a:ext cx="3619500" cy="3809850"/>
              <a:chOff x="0" y="0"/>
              <a:chExt cx="3619500" cy="3809850"/>
            </a:xfrm>
          </p:grpSpPr>
          <p:pic>
            <p:nvPicPr>
              <p:cNvPr id="241" name="Google Shape;241;p18"/>
              <p:cNvPicPr preferRelativeResize="0"/>
              <p:nvPr/>
            </p:nvPicPr>
            <p:blipFill rotWithShape="1">
              <a:blip r:embed="rId3">
                <a:alphaModFix/>
              </a:blip>
              <a:srcRect b="179" l="0" r="0" t="169"/>
              <a:stretch/>
            </p:blipFill>
            <p:spPr>
              <a:xfrm>
                <a:off x="0" y="0"/>
                <a:ext cx="3619500" cy="2057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18"/>
              <p:cNvSpPr txBox="1"/>
              <p:nvPr/>
            </p:nvSpPr>
            <p:spPr>
              <a:xfrm>
                <a:off x="0" y="2190750"/>
                <a:ext cx="36195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Institutional Access Model</a:t>
                </a:r>
                <a:endParaRPr b="1" sz="1000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450"/>
                  </a:spcAft>
                  <a:buNone/>
                </a:pPr>
                <a:r>
                  <a:rPr b="0" lang="en" sz="1050">
                    <a:solidFill>
                      <a:srgbClr val="6C757D"/>
                    </a:solidFill>
                    <a:latin typeface="Inter"/>
                    <a:ea typeface="Inter"/>
                    <a:cs typeface="Inter"/>
                    <a:sym typeface="Inter"/>
                  </a:rPr>
                  <a:t>The platform's security and access control model is designed to reflect AMU's institutional structure, bridging external requesters and administrative governance through verified scopes.</a:t>
                </a:r>
                <a:endParaRPr b="0" sz="1050">
                  <a:solidFill>
                    <a:srgbClr val="6C757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3" name="Google Shape;243;p18"/>
            <p:cNvGrpSpPr/>
            <p:nvPr/>
          </p:nvGrpSpPr>
          <p:grpSpPr>
            <a:xfrm>
              <a:off x="3848100" y="95250"/>
              <a:ext cx="4381575" cy="3733650"/>
              <a:chOff x="0" y="0"/>
              <a:chExt cx="4381575" cy="3733650"/>
            </a:xfrm>
          </p:grpSpPr>
          <p:grpSp>
            <p:nvGrpSpPr>
              <p:cNvPr id="244" name="Google Shape;244;p18"/>
              <p:cNvGrpSpPr/>
              <p:nvPr/>
            </p:nvGrpSpPr>
            <p:grpSpPr>
              <a:xfrm>
                <a:off x="0" y="0"/>
                <a:ext cx="2143200" cy="1809600"/>
                <a:chOff x="0" y="0"/>
                <a:chExt cx="2143200" cy="1809600"/>
              </a:xfrm>
            </p:grpSpPr>
            <p:sp>
              <p:nvSpPr>
                <p:cNvPr id="245" name="Google Shape;245;p18"/>
                <p:cNvSpPr/>
                <p:nvPr/>
              </p:nvSpPr>
              <p:spPr>
                <a:xfrm>
                  <a:off x="0" y="0"/>
                  <a:ext cx="2143200" cy="1809600"/>
                </a:xfrm>
                <a:prstGeom prst="roundRect">
                  <a:avLst>
                    <a:gd fmla="val 2105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18"/>
                <p:cNvSpPr txBox="1"/>
                <p:nvPr/>
              </p:nvSpPr>
              <p:spPr>
                <a:xfrm>
                  <a:off x="133350" y="133350"/>
                  <a:ext cx="1876500" cy="154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Stateless JWT Auth</a:t>
                  </a:r>
                  <a:endParaRPr b="1" sz="10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450"/>
                    </a:spcAft>
                    <a:buNone/>
                  </a:pPr>
                  <a:r>
                    <a:rPr b="0" lang="en" sz="100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Authentication is stateless, utilizing JSON Web Tokens (JWT) to issue both access and refresh tokens for secure session maintenance.</a:t>
                  </a:r>
                  <a:endParaRPr b="0" sz="10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47" name="Google Shape;247;p18"/>
              <p:cNvGrpSpPr/>
              <p:nvPr/>
            </p:nvGrpSpPr>
            <p:grpSpPr>
              <a:xfrm>
                <a:off x="2238375" y="0"/>
                <a:ext cx="2143200" cy="1809600"/>
                <a:chOff x="0" y="0"/>
                <a:chExt cx="2143200" cy="1809600"/>
              </a:xfrm>
            </p:grpSpPr>
            <p:sp>
              <p:nvSpPr>
                <p:cNvPr id="248" name="Google Shape;248;p18"/>
                <p:cNvSpPr/>
                <p:nvPr/>
              </p:nvSpPr>
              <p:spPr>
                <a:xfrm>
                  <a:off x="0" y="0"/>
                  <a:ext cx="2143200" cy="1809600"/>
                </a:xfrm>
                <a:prstGeom prst="roundRect">
                  <a:avLst>
                    <a:gd fmla="val 2105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18"/>
                <p:cNvSpPr txBox="1"/>
                <p:nvPr/>
              </p:nvSpPr>
              <p:spPr>
                <a:xfrm>
                  <a:off x="133350" y="133350"/>
                  <a:ext cx="1876500" cy="154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RBAC &amp; Scoped Controls</a:t>
                  </a:r>
                  <a:endParaRPr b="1" sz="10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450"/>
                    </a:spcAft>
                    <a:buNone/>
                  </a:pPr>
                  <a:r>
                    <a:rPr b="0" lang="en" sz="100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Roles are constrained by explicit scope values: global, organizational, or store-level. A Store Manager's scope is strictly verified prior to requisition approval.</a:t>
                  </a:r>
                  <a:endParaRPr b="0" sz="10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50" name="Google Shape;250;p18"/>
              <p:cNvGrpSpPr/>
              <p:nvPr/>
            </p:nvGrpSpPr>
            <p:grpSpPr>
              <a:xfrm>
                <a:off x="0" y="1924050"/>
                <a:ext cx="2143200" cy="1809600"/>
                <a:chOff x="0" y="0"/>
                <a:chExt cx="2143200" cy="1809600"/>
              </a:xfrm>
            </p:grpSpPr>
            <p:sp>
              <p:nvSpPr>
                <p:cNvPr id="251" name="Google Shape;251;p18"/>
                <p:cNvSpPr/>
                <p:nvPr/>
              </p:nvSpPr>
              <p:spPr>
                <a:xfrm>
                  <a:off x="0" y="0"/>
                  <a:ext cx="2143200" cy="1809600"/>
                </a:xfrm>
                <a:prstGeom prst="roundRect">
                  <a:avLst>
                    <a:gd fmla="val 2105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" name="Google Shape;252;p18"/>
                <p:cNvSpPr txBox="1"/>
                <p:nvPr/>
              </p:nvSpPr>
              <p:spPr>
                <a:xfrm>
                  <a:off x="133350" y="133350"/>
                  <a:ext cx="1876500" cy="154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Five Distinct Roles</a:t>
                  </a:r>
                  <a:endParaRPr b="1" sz="10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450"/>
                    </a:spcAft>
                    <a:buNone/>
                  </a:pPr>
                  <a:r>
                    <a:rPr b="0" lang="en" sz="100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Users are assigned one of five institutional roles: Requester, Store Manager, Storekeeper, Internal Auditor, or Administrator.</a:t>
                  </a:r>
                  <a:endParaRPr b="0" sz="10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53" name="Google Shape;253;p18"/>
              <p:cNvGrpSpPr/>
              <p:nvPr/>
            </p:nvGrpSpPr>
            <p:grpSpPr>
              <a:xfrm>
                <a:off x="2238375" y="1924050"/>
                <a:ext cx="2143200" cy="1809600"/>
                <a:chOff x="0" y="0"/>
                <a:chExt cx="2143200" cy="1809600"/>
              </a:xfrm>
            </p:grpSpPr>
            <p:sp>
              <p:nvSpPr>
                <p:cNvPr id="254" name="Google Shape;254;p18"/>
                <p:cNvSpPr/>
                <p:nvPr/>
              </p:nvSpPr>
              <p:spPr>
                <a:xfrm>
                  <a:off x="0" y="0"/>
                  <a:ext cx="2143200" cy="1809600"/>
                </a:xfrm>
                <a:prstGeom prst="roundRect">
                  <a:avLst>
                    <a:gd fmla="val 2105" name="adj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18"/>
                <p:cNvSpPr txBox="1"/>
                <p:nvPr/>
              </p:nvSpPr>
              <p:spPr>
                <a:xfrm>
                  <a:off x="133350" y="133350"/>
                  <a:ext cx="1876500" cy="154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1E3A8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Append-Only Audit Log</a:t>
                  </a:r>
                  <a:endParaRPr b="1" sz="10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450"/>
                    </a:spcAft>
                    <a:buNone/>
                  </a:pPr>
                  <a:r>
                    <a:rPr b="0" lang="en" sz="1000">
                      <a:solidFill>
                        <a:srgbClr val="21252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Key operations (stock actions, requisition decisions, user modifications) automatically generate append-only entries, preserving a historical record for auditors.</a:t>
                  </a:r>
                  <a:endParaRPr b="0" sz="10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1" name="Google Shape;26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" name="Google Shape;262;p19"/>
            <p:cNvGrpSpPr/>
            <p:nvPr/>
          </p:nvGrpSpPr>
          <p:grpSpPr>
            <a:xfrm>
              <a:off x="457200" y="762000"/>
              <a:ext cx="8229600" cy="19200"/>
              <a:chOff x="0" y="0"/>
              <a:chExt cx="8229600" cy="19200"/>
            </a:xfrm>
          </p:grpSpPr>
          <p:sp>
            <p:nvSpPr>
              <p:cNvPr id="263" name="Google Shape;263;p19"/>
              <p:cNvSpPr/>
              <p:nvPr/>
            </p:nvSpPr>
            <p:spPr>
              <a:xfrm>
                <a:off x="0" y="0"/>
                <a:ext cx="8229600" cy="192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5" name="Google Shape;265;p19"/>
          <p:cNvSpPr txBox="1"/>
          <p:nvPr/>
        </p:nvSpPr>
        <p:spPr>
          <a:xfrm>
            <a:off x="457200" y="304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5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Key Challenges &amp; Strategic Solutions</a:t>
            </a:r>
            <a:endParaRPr b="1" sz="2405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6" name="Google Shape;266;p19"/>
          <p:cNvGrpSpPr/>
          <p:nvPr/>
        </p:nvGrpSpPr>
        <p:grpSpPr>
          <a:xfrm>
            <a:off x="457200" y="1047750"/>
            <a:ext cx="8229600" cy="3524400"/>
            <a:chOff x="0" y="0"/>
            <a:chExt cx="8229600" cy="3524400"/>
          </a:xfrm>
        </p:grpSpPr>
        <p:grpSp>
          <p:nvGrpSpPr>
            <p:cNvPr id="267" name="Google Shape;267;p19"/>
            <p:cNvGrpSpPr/>
            <p:nvPr/>
          </p:nvGrpSpPr>
          <p:grpSpPr>
            <a:xfrm>
              <a:off x="0" y="0"/>
              <a:ext cx="3810000" cy="2247900"/>
              <a:chOff x="0" y="0"/>
              <a:chExt cx="3810000" cy="2247900"/>
            </a:xfrm>
          </p:grpSpPr>
          <p:sp>
            <p:nvSpPr>
              <p:cNvPr id="268" name="Google Shape;268;p19"/>
              <p:cNvSpPr txBox="1"/>
              <p:nvPr/>
            </p:nvSpPr>
            <p:spPr>
              <a:xfrm>
                <a:off x="0" y="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1" lang="en" sz="1100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Challenges</a:t>
                </a:r>
                <a:endParaRPr b="1" sz="110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9" name="Google Shape;269;p19"/>
              <p:cNvSpPr txBox="1"/>
              <p:nvPr/>
            </p:nvSpPr>
            <p:spPr>
              <a:xfrm>
                <a:off x="0" y="342900"/>
                <a:ext cx="3810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Adapting to the NestJS and Prisma ecosystem, alongside TypeScript's strict typing, required overcoming a steep learning curve that extended beyond standard coursework.</a:t>
                </a:r>
                <a:endParaRPr b="0" sz="129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en" sz="129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A significant technical challenge was managing concurrency risks to keep received, issued, and balance figures consistent.</a:t>
                </a:r>
                <a:endParaRPr b="0" sz="129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70" name="Google Shape;270;p19"/>
            <p:cNvSpPr/>
            <p:nvPr/>
          </p:nvSpPr>
          <p:spPr>
            <a:xfrm>
              <a:off x="4105275" y="0"/>
              <a:ext cx="19200" cy="22860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1" name="Google Shape;271;p19"/>
            <p:cNvGrpSpPr/>
            <p:nvPr/>
          </p:nvGrpSpPr>
          <p:grpSpPr>
            <a:xfrm>
              <a:off x="4419600" y="0"/>
              <a:ext cx="3810000" cy="2247900"/>
              <a:chOff x="0" y="0"/>
              <a:chExt cx="3810000" cy="2247900"/>
            </a:xfrm>
          </p:grpSpPr>
          <p:sp>
            <p:nvSpPr>
              <p:cNvPr id="272" name="Google Shape;272;p19"/>
              <p:cNvSpPr txBox="1"/>
              <p:nvPr/>
            </p:nvSpPr>
            <p:spPr>
              <a:xfrm>
                <a:off x="0" y="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1" lang="en" sz="1100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Collaborative Mentorship</a:t>
                </a:r>
                <a:endParaRPr b="1" sz="110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3" name="Google Shape;273;p19"/>
              <p:cNvSpPr txBox="1"/>
              <p:nvPr/>
            </p:nvSpPr>
            <p:spPr>
              <a:xfrm>
                <a:off x="0" y="342900"/>
                <a:ext cx="3810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8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I assumed an informal leadership role within the intern team. Because several teammates had limited prior exposure to professional development practices, I guided them through Git and GitHub workflows, including branching, committing, pull requests, and peer code review.</a:t>
                </a:r>
                <a:endParaRPr b="0" sz="108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en" sz="108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This required balancing patient mentorship and clear communication of foundational concepts without slowing the team's overall progress or compromising code quality.</a:t>
                </a:r>
                <a:endParaRPr b="0" sz="108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4" name="Google Shape;274;p19"/>
            <p:cNvGrpSpPr/>
            <p:nvPr/>
          </p:nvGrpSpPr>
          <p:grpSpPr>
            <a:xfrm>
              <a:off x="0" y="2476500"/>
              <a:ext cx="8229600" cy="1047900"/>
              <a:chOff x="0" y="0"/>
              <a:chExt cx="8229600" cy="104790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8229600" cy="1047900"/>
              </a:xfrm>
              <a:prstGeom prst="roundRect">
                <a:avLst>
                  <a:gd fmla="val 1818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0" y="0"/>
                <a:ext cx="76200" cy="1047900"/>
              </a:xfrm>
              <a:prstGeom prst="rect">
                <a:avLst/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 txBox="1"/>
              <p:nvPr/>
            </p:nvSpPr>
            <p:spPr>
              <a:xfrm>
                <a:off x="304800" y="190500"/>
                <a:ext cx="762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2A9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Mitigation Strategy</a:t>
                </a:r>
                <a:endParaRPr b="1" sz="1100">
                  <a:solidFill>
                    <a:srgbClr val="F2A9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900"/>
                  </a:spcAft>
                  <a:buNone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Concurrency risks were mitigated by wrapping each stock movement and its corresponding stock-summary update inside a single Prisma database transaction.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0"/>
          <p:cNvGrpSpPr/>
          <p:nvPr/>
        </p:nvGrpSpPr>
        <p:grpSpPr>
          <a:xfrm>
            <a:off x="457200" y="266700"/>
            <a:ext cx="8229600" cy="495450"/>
            <a:chOff x="457200" y="266700"/>
            <a:chExt cx="8229600" cy="495450"/>
          </a:xfrm>
        </p:grpSpPr>
        <p:sp>
          <p:nvSpPr>
            <p:cNvPr id="283" name="Google Shape;283;p20"/>
            <p:cNvSpPr txBox="1"/>
            <p:nvPr/>
          </p:nvSpPr>
          <p:spPr>
            <a:xfrm>
              <a:off x="457200" y="266700"/>
              <a:ext cx="822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240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rPr>
                <a:t>Digitized Store Operations Prototype</a:t>
              </a:r>
              <a:endParaRPr b="1" sz="240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457200" y="742950"/>
              <a:ext cx="8229600" cy="192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457200" y="742950"/>
              <a:ext cx="1143000" cy="19200"/>
            </a:xfrm>
            <a:prstGeom prst="rect">
              <a:avLst/>
            </a:prstGeom>
            <a:solidFill>
              <a:srgbClr val="0B4A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0"/>
          <p:cNvGrpSpPr/>
          <p:nvPr/>
        </p:nvGrpSpPr>
        <p:grpSpPr>
          <a:xfrm>
            <a:off x="457200" y="952500"/>
            <a:ext cx="4000500" cy="3581400"/>
            <a:chOff x="0" y="0"/>
            <a:chExt cx="4000500" cy="3581400"/>
          </a:xfrm>
        </p:grpSpPr>
        <p:pic>
          <p:nvPicPr>
            <p:cNvPr id="287" name="Google Shape;287;p20"/>
            <p:cNvPicPr preferRelativeResize="0"/>
            <p:nvPr/>
          </p:nvPicPr>
          <p:blipFill rotWithShape="1">
            <a:blip r:embed="rId3">
              <a:alphaModFix/>
            </a:blip>
            <a:srcRect b="70" l="0" r="0" t="80"/>
            <a:stretch/>
          </p:blipFill>
          <p:spPr>
            <a:xfrm>
              <a:off x="0" y="0"/>
              <a:ext cx="4000500" cy="3124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0"/>
            <p:cNvSpPr txBox="1"/>
            <p:nvPr/>
          </p:nvSpPr>
          <p:spPr>
            <a:xfrm>
              <a:off x="0" y="320040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000">
                  <a:solidFill>
                    <a:srgbClr val="6C757D"/>
                  </a:solidFill>
                  <a:latin typeface="Roboto"/>
                  <a:ea typeface="Roboto"/>
                  <a:cs typeface="Roboto"/>
                  <a:sym typeface="Roboto"/>
                </a:rPr>
                <a:t>Figure 1: Use Case Diagram — AMU Store &amp; Resource Management System</a:t>
              </a:r>
              <a:endParaRPr b="1" sz="100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9" name="Google Shape;289;p20"/>
          <p:cNvGrpSpPr/>
          <p:nvPr/>
        </p:nvGrpSpPr>
        <p:grpSpPr>
          <a:xfrm>
            <a:off x="4686300" y="952500"/>
            <a:ext cx="4000650" cy="3247950"/>
            <a:chOff x="0" y="0"/>
            <a:chExt cx="4000650" cy="3247950"/>
          </a:xfrm>
        </p:grpSpPr>
        <p:grpSp>
          <p:nvGrpSpPr>
            <p:cNvPr id="290" name="Google Shape;290;p20"/>
            <p:cNvGrpSpPr/>
            <p:nvPr/>
          </p:nvGrpSpPr>
          <p:grpSpPr>
            <a:xfrm>
              <a:off x="0" y="0"/>
              <a:ext cx="4000500" cy="666900"/>
              <a:chOff x="0" y="0"/>
              <a:chExt cx="4000500" cy="6669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0" y="0"/>
                <a:ext cx="4000500" cy="666900"/>
              </a:xfrm>
              <a:prstGeom prst="roundRect">
                <a:avLst>
                  <a:gd fmla="val 5714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0" y="0"/>
                <a:ext cx="47700" cy="666900"/>
              </a:xfrm>
              <a:prstGeom prst="roundRect">
                <a:avLst>
                  <a:gd fmla="val 40000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152400" y="95250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75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Primary Internship Achievement</a:t>
                </a:r>
                <a:endParaRPr b="1" sz="775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lang="en" sz="814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Fully working prototype (</a:t>
                </a:r>
                <a:r>
                  <a:rPr b="1" lang="en" sz="814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repository commit 01b0e84</a:t>
                </a:r>
                <a:r>
                  <a:rPr b="0" lang="en" sz="814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) automating registration, tracking, and requisition workflows for AMU institutional stores.</a:t>
                </a:r>
                <a:endParaRPr b="0" sz="814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4" name="Google Shape;294;p20"/>
            <p:cNvGrpSpPr/>
            <p:nvPr/>
          </p:nvGrpSpPr>
          <p:grpSpPr>
            <a:xfrm>
              <a:off x="0" y="781050"/>
              <a:ext cx="4000650" cy="523800"/>
              <a:chOff x="0" y="0"/>
              <a:chExt cx="4000650" cy="523800"/>
            </a:xfrm>
          </p:grpSpPr>
          <p:sp>
            <p:nvSpPr>
              <p:cNvPr id="295" name="Google Shape;295;p20"/>
              <p:cNvSpPr/>
              <p:nvPr/>
            </p:nvSpPr>
            <p:spPr>
              <a:xfrm>
                <a:off x="0" y="47625"/>
                <a:ext cx="57300" cy="57300"/>
              </a:xfrm>
              <a:prstGeom prst="rect">
                <a:avLst/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0"/>
              <p:cNvSpPr txBox="1"/>
              <p:nvPr/>
            </p:nvSpPr>
            <p:spPr>
              <a:xfrm>
                <a:off x="133350" y="0"/>
                <a:ext cx="3867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Comprehensive Material Catalog:</a:t>
                </a: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Features categories, units of measure, minimum-stock thresholds, and barcode/QR identifiers.</a:t>
                </a:r>
                <a:endParaRPr b="0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7" name="Google Shape;297;p20"/>
            <p:cNvGrpSpPr/>
            <p:nvPr/>
          </p:nvGrpSpPr>
          <p:grpSpPr>
            <a:xfrm>
              <a:off x="0" y="1352550"/>
              <a:ext cx="4000650" cy="714300"/>
              <a:chOff x="0" y="0"/>
              <a:chExt cx="4000650" cy="714300"/>
            </a:xfrm>
          </p:grpSpPr>
          <p:sp>
            <p:nvSpPr>
              <p:cNvPr id="298" name="Google Shape;298;p20"/>
              <p:cNvSpPr/>
              <p:nvPr/>
            </p:nvSpPr>
            <p:spPr>
              <a:xfrm>
                <a:off x="0" y="47625"/>
                <a:ext cx="57300" cy="57300"/>
              </a:xfrm>
              <a:prstGeom prst="rect">
                <a:avLst/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0"/>
              <p:cNvSpPr txBox="1"/>
              <p:nvPr/>
            </p:nvSpPr>
            <p:spPr>
              <a:xfrm>
                <a:off x="133350" y="0"/>
                <a:ext cx="3867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Reports &amp; Analytics Module:</a:t>
                </a: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Generates </a:t>
                </a:r>
                <a:r>
                  <a:rPr b="1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8 automated institutional reports</a:t>
                </a: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for university compliance (e.g., Overall Inventory Status, Stock Receiving Ledger, Departmental Requisition Log).</a:t>
                </a:r>
                <a:endParaRPr b="0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0" name="Google Shape;300;p20"/>
            <p:cNvGrpSpPr/>
            <p:nvPr/>
          </p:nvGrpSpPr>
          <p:grpSpPr>
            <a:xfrm>
              <a:off x="0" y="2114550"/>
              <a:ext cx="4000500" cy="514500"/>
              <a:chOff x="0" y="0"/>
              <a:chExt cx="4000500" cy="514500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0" y="0"/>
                <a:ext cx="4000500" cy="514500"/>
              </a:xfrm>
              <a:prstGeom prst="roundRect">
                <a:avLst>
                  <a:gd fmla="val 7407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0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0"/>
              <p:cNvSpPr txBox="1"/>
              <p:nvPr/>
            </p:nvSpPr>
            <p:spPr>
              <a:xfrm>
                <a:off x="133350" y="76200"/>
                <a:ext cx="37338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25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Export &amp; Document Generation</a:t>
                </a:r>
                <a:endParaRPr b="1" sz="625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lang="en" sz="62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Export reports directly to </a:t>
                </a:r>
                <a:r>
                  <a:rPr b="1" lang="en" sz="62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CSV</a:t>
                </a:r>
                <a:r>
                  <a:rPr b="0" lang="en" sz="62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for Excel integration or print as </a:t>
                </a:r>
                <a:r>
                  <a:rPr b="1" lang="en" sz="62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PDFs</a:t>
                </a:r>
                <a:r>
                  <a:rPr b="0" lang="en" sz="62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straight from the browser.</a:t>
                </a:r>
                <a:endParaRPr b="0" sz="62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4" name="Google Shape;304;p20"/>
            <p:cNvGrpSpPr/>
            <p:nvPr/>
          </p:nvGrpSpPr>
          <p:grpSpPr>
            <a:xfrm>
              <a:off x="0" y="2724150"/>
              <a:ext cx="4000650" cy="523800"/>
              <a:chOff x="0" y="0"/>
              <a:chExt cx="4000650" cy="523800"/>
            </a:xfrm>
          </p:grpSpPr>
          <p:sp>
            <p:nvSpPr>
              <p:cNvPr id="305" name="Google Shape;305;p20"/>
              <p:cNvSpPr/>
              <p:nvPr/>
            </p:nvSpPr>
            <p:spPr>
              <a:xfrm>
                <a:off x="0" y="47625"/>
                <a:ext cx="57300" cy="57300"/>
              </a:xfrm>
              <a:prstGeom prst="rect">
                <a:avLst/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0"/>
              <p:cNvSpPr txBox="1"/>
              <p:nvPr/>
            </p:nvSpPr>
            <p:spPr>
              <a:xfrm>
                <a:off x="133350" y="0"/>
                <a:ext cx="3867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Dashboard &amp; Alerts:</a:t>
                </a:r>
                <a:r>
                  <a:rPr b="0"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Provides real-time in-app notifications for managers and storekeepers regarding new requests, decisions, and low-stock alerts.</a:t>
                </a:r>
                <a:endParaRPr b="0"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12" name="Google Shape;312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" name="Google Shape;313;p21"/>
            <p:cNvGrpSpPr/>
            <p:nvPr/>
          </p:nvGrpSpPr>
          <p:grpSpPr>
            <a:xfrm>
              <a:off x="457200" y="762000"/>
              <a:ext cx="8229600" cy="19200"/>
              <a:chOff x="0" y="0"/>
              <a:chExt cx="8229600" cy="19200"/>
            </a:xfrm>
          </p:grpSpPr>
          <p:sp>
            <p:nvSpPr>
              <p:cNvPr id="314" name="Google Shape;314;p21"/>
              <p:cNvSpPr/>
              <p:nvPr/>
            </p:nvSpPr>
            <p:spPr>
              <a:xfrm>
                <a:off x="0" y="0"/>
                <a:ext cx="8229600" cy="192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1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6" name="Google Shape;316;p21"/>
          <p:cNvSpPr txBox="1"/>
          <p:nvPr/>
        </p:nvSpPr>
        <p:spPr>
          <a:xfrm>
            <a:off x="457200" y="285750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B4A8F"/>
                </a:solidFill>
                <a:latin typeface="Roboto"/>
                <a:ea typeface="Roboto"/>
                <a:cs typeface="Roboto"/>
                <a:sym typeface="Roboto"/>
              </a:rPr>
              <a:t>Recommendations for Institutional Adoption</a:t>
            </a:r>
            <a:endParaRPr b="1" sz="2600">
              <a:solidFill>
                <a:srgbClr val="0B4A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457200" y="1009650"/>
            <a:ext cx="8229600" cy="3581400"/>
            <a:chOff x="0" y="0"/>
            <a:chExt cx="8229600" cy="3581400"/>
          </a:xfrm>
        </p:grpSpPr>
        <p:grpSp>
          <p:nvGrpSpPr>
            <p:cNvPr id="318" name="Google Shape;318;p21"/>
            <p:cNvGrpSpPr/>
            <p:nvPr/>
          </p:nvGrpSpPr>
          <p:grpSpPr>
            <a:xfrm>
              <a:off x="0" y="0"/>
              <a:ext cx="4000500" cy="1714500"/>
              <a:chOff x="0" y="0"/>
              <a:chExt cx="4000500" cy="1714500"/>
            </a:xfrm>
          </p:grpSpPr>
          <p:sp>
            <p:nvSpPr>
              <p:cNvPr id="319" name="Google Shape;319;p21"/>
              <p:cNvSpPr/>
              <p:nvPr/>
            </p:nvSpPr>
            <p:spPr>
              <a:xfrm>
                <a:off x="0" y="0"/>
                <a:ext cx="4000500" cy="1714500"/>
              </a:xfrm>
              <a:prstGeom prst="roundRect">
                <a:avLst>
                  <a:gd fmla="val 2222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33333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1"/>
              <p:cNvSpPr txBox="1"/>
              <p:nvPr/>
            </p:nvSpPr>
            <p:spPr>
              <a:xfrm>
                <a:off x="228600" y="152400"/>
                <a:ext cx="36195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35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Strategic: Handover &amp; Pilot</a:t>
                </a:r>
                <a:endParaRPr b="1" sz="935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110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Establish a formal codebase handover process and assign permanent maintainers within ICTD.</a:t>
                </a:r>
                <a:endParaRPr b="0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600"/>
                  </a:spcAft>
                  <a:buSzPts val="1190"/>
                  <a:buChar char="●"/>
                </a:pPr>
                <a:r>
                  <a:rPr b="0" lang="en" sz="110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Roll out a phased pilot within the ICTD store before expanding to other university departments.</a:t>
                </a:r>
                <a:endParaRPr b="0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2" name="Google Shape;322;p21"/>
            <p:cNvGrpSpPr/>
            <p:nvPr/>
          </p:nvGrpSpPr>
          <p:grpSpPr>
            <a:xfrm>
              <a:off x="4229100" y="0"/>
              <a:ext cx="4000500" cy="1714500"/>
              <a:chOff x="0" y="0"/>
              <a:chExt cx="4000500" cy="1714500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0" y="0"/>
                <a:ext cx="4000500" cy="1714500"/>
              </a:xfrm>
              <a:prstGeom prst="roundRect">
                <a:avLst>
                  <a:gd fmla="val 2222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33333" name="adj"/>
                </a:avLst>
              </a:prstGeom>
              <a:solidFill>
                <a:srgbClr val="0B4A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1"/>
              <p:cNvSpPr txBox="1"/>
              <p:nvPr/>
            </p:nvSpPr>
            <p:spPr>
              <a:xfrm>
                <a:off x="228600" y="152400"/>
                <a:ext cx="36195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3A8A"/>
                    </a:solidFill>
                    <a:latin typeface="Roboto"/>
                    <a:ea typeface="Roboto"/>
                    <a:cs typeface="Roboto"/>
                    <a:sym typeface="Roboto"/>
                  </a:rPr>
                  <a:t>2. Strategic: Training &amp; Migration</a:t>
                </a:r>
                <a:endParaRPr b="1" sz="1100">
                  <a:solidFill>
                    <a:srgbClr val="1E3A8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Conduct structured training programs for staff to ensure smooth adoption.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SzPts val="1400"/>
                  <a:buChar char="●"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Develop and execute a formal plan for migrating existing paper records into the digital system.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6" name="Google Shape;326;p21"/>
            <p:cNvGrpSpPr/>
            <p:nvPr/>
          </p:nvGrpSpPr>
          <p:grpSpPr>
            <a:xfrm>
              <a:off x="0" y="1866900"/>
              <a:ext cx="4000500" cy="1714500"/>
              <a:chOff x="0" y="0"/>
              <a:chExt cx="4000500" cy="1714500"/>
            </a:xfrm>
          </p:grpSpPr>
          <p:sp>
            <p:nvSpPr>
              <p:cNvPr id="327" name="Google Shape;327;p21"/>
              <p:cNvSpPr/>
              <p:nvPr/>
            </p:nvSpPr>
            <p:spPr>
              <a:xfrm>
                <a:off x="0" y="0"/>
                <a:ext cx="4000500" cy="1714500"/>
              </a:xfrm>
              <a:prstGeom prst="roundRect">
                <a:avLst>
                  <a:gd fmla="val 2222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33333" name="adj"/>
                </a:avLst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1"/>
              <p:cNvSpPr txBox="1"/>
              <p:nvPr/>
            </p:nvSpPr>
            <p:spPr>
              <a:xfrm>
                <a:off x="228600" y="152400"/>
                <a:ext cx="36195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3. Technical: Concurrency Hardening</a:t>
                </a:r>
                <a:endParaRPr b="1" sz="1100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Harden direct stock-out operations against concurrent usage.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SzPts val="1400"/>
                  <a:buChar char="●"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Perform balance checks entirely inside DB transactions (e.g., via row-level locking).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0" name="Google Shape;330;p21"/>
            <p:cNvGrpSpPr/>
            <p:nvPr/>
          </p:nvGrpSpPr>
          <p:grpSpPr>
            <a:xfrm>
              <a:off x="4229100" y="1866900"/>
              <a:ext cx="4000500" cy="1714500"/>
              <a:chOff x="0" y="0"/>
              <a:chExt cx="4000500" cy="1714500"/>
            </a:xfrm>
          </p:grpSpPr>
          <p:sp>
            <p:nvSpPr>
              <p:cNvPr id="331" name="Google Shape;331;p21"/>
              <p:cNvSpPr/>
              <p:nvPr/>
            </p:nvSpPr>
            <p:spPr>
              <a:xfrm>
                <a:off x="0" y="0"/>
                <a:ext cx="4000500" cy="1714500"/>
              </a:xfrm>
              <a:prstGeom prst="roundRect">
                <a:avLst>
                  <a:gd fmla="val 2222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33333" name="adj"/>
                </a:avLst>
              </a:prstGeom>
              <a:solidFill>
                <a:srgbClr val="F2A9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1"/>
              <p:cNvSpPr txBox="1"/>
              <p:nvPr/>
            </p:nvSpPr>
            <p:spPr>
              <a:xfrm>
                <a:off x="228600" y="152400"/>
                <a:ext cx="36195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35">
                    <a:solidFill>
                      <a:srgbClr val="0B4A8F"/>
                    </a:solidFill>
                    <a:latin typeface="Roboto"/>
                    <a:ea typeface="Roboto"/>
                    <a:cs typeface="Roboto"/>
                    <a:sym typeface="Roboto"/>
                  </a:rPr>
                  <a:t>4. Technical: Infrastructure &amp; Services</a:t>
                </a:r>
                <a:endParaRPr b="1" sz="935">
                  <a:solidFill>
                    <a:srgbClr val="0B4A8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110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Wire scaffolded Nodemailer &amp; BullMQ for scheduled email alerts.</a:t>
                </a:r>
                <a:endParaRPr b="0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0"/>
                  </a:spcAft>
                  <a:buSzPts val="1190"/>
                  <a:buChar char="●"/>
                </a:pPr>
                <a:r>
                  <a:rPr b="0" lang="en" sz="110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Implement automated full-database backups.</a:t>
                </a:r>
                <a:endParaRPr b="0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04165" lvl="0" marL="457200" rtl="0" algn="l">
                  <a:spcBef>
                    <a:spcPts val="600"/>
                  </a:spcBef>
                  <a:spcAft>
                    <a:spcPts val="600"/>
                  </a:spcAft>
                  <a:buSzPts val="1190"/>
                  <a:buChar char="●"/>
                </a:pPr>
                <a:r>
                  <a:rPr b="0" lang="en" sz="1105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Replace browser-based exports with server-side Excel &amp; PDF generation.</a:t>
                </a:r>
                <a:endParaRPr b="0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